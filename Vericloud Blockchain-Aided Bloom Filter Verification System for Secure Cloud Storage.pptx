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imes New Roman Bold" charset="1" panose="02030802070405020303"/>
      <p:regular r:id="rId15"/>
    </p:embeddedFont>
    <p:embeddedFont>
      <p:font typeface="Times New Roman" charset="1" panose="02030502070405020303"/>
      <p:regular r:id="rId16"/>
    </p:embeddedFont>
    <p:embeddedFont>
      <p:font typeface="Libre Baskerville" charset="1" panose="02000000000000000000"/>
      <p:regular r:id="rId17"/>
    </p:embeddedFont>
    <p:embeddedFont>
      <p:font typeface="Canva Sans" charset="1" panose="020B0503030501040103"/>
      <p:regular r:id="rId18"/>
    </p:embeddedFont>
    <p:embeddedFont>
      <p:font typeface="Trebuchet MS Bold" charset="1" panose="020B0703020202020204"/>
      <p:regular r:id="rId19"/>
    </p:embeddedFont>
    <p:embeddedFont>
      <p:font typeface="Trebuchet MS" charset="1" panose="020B0603020202020204"/>
      <p:regular r:id="rId20"/>
    </p:embeddedFont>
    <p:embeddedFont>
      <p:font typeface="Arial Bold" charset="1" panose="020B0802020202020204"/>
      <p:regular r:id="rId21"/>
    </p:embeddedFont>
    <p:embeddedFont>
      <p:font typeface="HK Modular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https://ieeexplore.ieee.org/document/10148628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2450" y="1933382"/>
            <a:ext cx="13867179" cy="540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5"/>
              </a:lnSpc>
            </a:pPr>
            <a:r>
              <a:rPr lang="en-US" sz="9337" spc="-28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Vericloud:</a:t>
            </a:r>
          </a:p>
          <a:p>
            <a:pPr algn="l">
              <a:lnSpc>
                <a:spcPts val="6285"/>
              </a:lnSpc>
            </a:pPr>
            <a:r>
              <a:rPr lang="en-US" sz="5238" spc="-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</a:t>
            </a:r>
            <a:r>
              <a:rPr lang="en-US" sz="5238" spc="-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ockchain-Aided Bloom Filter Verification </a:t>
            </a:r>
          </a:p>
          <a:p>
            <a:pPr algn="l">
              <a:lnSpc>
                <a:spcPts val="6285"/>
              </a:lnSpc>
            </a:pPr>
            <a:r>
              <a:rPr lang="en-US" sz="5238" spc="-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for Secure Cloud Storage</a:t>
            </a:r>
          </a:p>
          <a:p>
            <a:pPr algn="l">
              <a:lnSpc>
                <a:spcPts val="6285"/>
              </a:lnSpc>
            </a:pPr>
          </a:p>
          <a:p>
            <a:pPr algn="l">
              <a:lnSpc>
                <a:spcPts val="1120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188930" y="428625"/>
            <a:ext cx="858390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spc="23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ZEROTH REVIEW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78766" y="847725"/>
            <a:ext cx="858390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24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TEAM 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429934" y="7238807"/>
            <a:ext cx="5717500" cy="154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Prof. Sindhu  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5400000">
            <a:off x="14583768" y="-410568"/>
            <a:ext cx="3293665" cy="4114800"/>
          </a:xfrm>
          <a:custGeom>
            <a:avLst/>
            <a:gdLst/>
            <a:ahLst/>
            <a:cxnLst/>
            <a:rect r="r" b="b" t="t" l="l"/>
            <a:pathLst>
              <a:path h="4114800" w="3293665">
                <a:moveTo>
                  <a:pt x="0" y="0"/>
                </a:moveTo>
                <a:lnTo>
                  <a:pt x="3293664" y="0"/>
                </a:lnTo>
                <a:lnTo>
                  <a:pt x="32936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330470" y="7305429"/>
            <a:ext cx="2651102" cy="3312041"/>
          </a:xfrm>
          <a:custGeom>
            <a:avLst/>
            <a:gdLst/>
            <a:ahLst/>
            <a:cxnLst/>
            <a:rect r="r" b="b" t="t" l="l"/>
            <a:pathLst>
              <a:path h="3312041" w="2651102">
                <a:moveTo>
                  <a:pt x="0" y="0"/>
                </a:moveTo>
                <a:lnTo>
                  <a:pt x="2651101" y="0"/>
                </a:lnTo>
                <a:lnTo>
                  <a:pt x="2651101" y="3312041"/>
                </a:lnTo>
                <a:lnTo>
                  <a:pt x="0" y="3312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15720" y="5805159"/>
            <a:ext cx="6143242" cy="486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5"/>
              </a:lnSpc>
            </a:pPr>
          </a:p>
          <a:p>
            <a:pPr algn="ctr">
              <a:lnSpc>
                <a:spcPts val="5405"/>
              </a:lnSpc>
            </a:pPr>
            <a:r>
              <a:rPr lang="en-US" sz="38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Abhinand C (3)</a:t>
            </a:r>
          </a:p>
          <a:p>
            <a:pPr algn="ctr">
              <a:lnSpc>
                <a:spcPts val="5405"/>
              </a:lnSpc>
            </a:pPr>
            <a:r>
              <a:rPr lang="en-US" sz="38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Arun V (22)</a:t>
            </a:r>
          </a:p>
          <a:p>
            <a:pPr algn="ctr">
              <a:lnSpc>
                <a:spcPts val="5405"/>
              </a:lnSpc>
            </a:pPr>
            <a:r>
              <a:rPr lang="en-US" sz="38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Merin P R (37)</a:t>
            </a:r>
          </a:p>
          <a:p>
            <a:pPr algn="ctr">
              <a:lnSpc>
                <a:spcPts val="5405"/>
              </a:lnSpc>
            </a:pPr>
            <a:r>
              <a:rPr lang="en-US" sz="38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Rameesa K T (49)</a:t>
            </a:r>
          </a:p>
          <a:p>
            <a:pPr algn="ctr">
              <a:lnSpc>
                <a:spcPts val="5405"/>
              </a:lnSpc>
            </a:pPr>
          </a:p>
          <a:p>
            <a:pPr algn="ctr">
              <a:lnSpc>
                <a:spcPts val="5405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53364" y="1974287"/>
            <a:ext cx="3117353" cy="3169213"/>
          </a:xfrm>
          <a:custGeom>
            <a:avLst/>
            <a:gdLst/>
            <a:ahLst/>
            <a:cxnLst/>
            <a:rect r="r" b="b" t="t" l="l"/>
            <a:pathLst>
              <a:path h="3169213" w="3117353">
                <a:moveTo>
                  <a:pt x="0" y="0"/>
                </a:moveTo>
                <a:lnTo>
                  <a:pt x="3117354" y="0"/>
                </a:lnTo>
                <a:lnTo>
                  <a:pt x="3117354" y="3169213"/>
                </a:lnTo>
                <a:lnTo>
                  <a:pt x="0" y="3169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46327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71200" y="3497909"/>
            <a:ext cx="3302000" cy="3550538"/>
          </a:xfrm>
          <a:custGeom>
            <a:avLst/>
            <a:gdLst/>
            <a:ahLst/>
            <a:cxnLst/>
            <a:rect r="r" b="b" t="t" l="l"/>
            <a:pathLst>
              <a:path h="3550538" w="3302000">
                <a:moveTo>
                  <a:pt x="0" y="0"/>
                </a:moveTo>
                <a:lnTo>
                  <a:pt x="3302000" y="0"/>
                </a:lnTo>
                <a:lnTo>
                  <a:pt x="3302000" y="3550538"/>
                </a:lnTo>
                <a:lnTo>
                  <a:pt x="0" y="3550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25545" y="1201152"/>
            <a:ext cx="2246176" cy="808623"/>
          </a:xfrm>
          <a:custGeom>
            <a:avLst/>
            <a:gdLst/>
            <a:ahLst/>
            <a:cxnLst/>
            <a:rect r="r" b="b" t="t" l="l"/>
            <a:pathLst>
              <a:path h="808623" w="2246176">
                <a:moveTo>
                  <a:pt x="0" y="0"/>
                </a:moveTo>
                <a:lnTo>
                  <a:pt x="2246176" y="0"/>
                </a:lnTo>
                <a:lnTo>
                  <a:pt x="2246176" y="808623"/>
                </a:lnTo>
                <a:lnTo>
                  <a:pt x="0" y="8086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4583768" y="-410568"/>
            <a:ext cx="3293665" cy="4114800"/>
          </a:xfrm>
          <a:custGeom>
            <a:avLst/>
            <a:gdLst/>
            <a:ahLst/>
            <a:cxnLst/>
            <a:rect r="r" b="b" t="t" l="l"/>
            <a:pathLst>
              <a:path h="4114800" w="3293665">
                <a:moveTo>
                  <a:pt x="0" y="0"/>
                </a:moveTo>
                <a:lnTo>
                  <a:pt x="3293664" y="0"/>
                </a:lnTo>
                <a:lnTo>
                  <a:pt x="32936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330470" y="7305429"/>
            <a:ext cx="2651102" cy="3312041"/>
          </a:xfrm>
          <a:custGeom>
            <a:avLst/>
            <a:gdLst/>
            <a:ahLst/>
            <a:cxnLst/>
            <a:rect r="r" b="b" t="t" l="l"/>
            <a:pathLst>
              <a:path h="3312041" w="2651102">
                <a:moveTo>
                  <a:pt x="0" y="0"/>
                </a:moveTo>
                <a:lnTo>
                  <a:pt x="2651101" y="0"/>
                </a:lnTo>
                <a:lnTo>
                  <a:pt x="2651101" y="3312041"/>
                </a:lnTo>
                <a:lnTo>
                  <a:pt x="0" y="3312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16100" y="1115427"/>
            <a:ext cx="7327900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spc="-13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OUTLINE</a:t>
            </a:r>
          </a:p>
          <a:p>
            <a:pPr algn="l">
              <a:lnSpc>
                <a:spcPts val="5280"/>
              </a:lnSpc>
            </a:pPr>
          </a:p>
          <a:p>
            <a:pPr algn="l">
              <a:lnSpc>
                <a:spcPts val="52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6100" y="2348792"/>
            <a:ext cx="7507903" cy="622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1.Introduction</a:t>
            </a:r>
          </a:p>
          <a:p>
            <a:pPr algn="just">
              <a:lnSpc>
                <a:spcPts val="3300"/>
              </a:lnSpc>
            </a:pPr>
          </a:p>
          <a:p>
            <a:pPr algn="just">
              <a:lnSpc>
                <a:spcPts val="480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2.Problem Definition</a:t>
            </a:r>
          </a:p>
          <a:p>
            <a:pPr algn="just">
              <a:lnSpc>
                <a:spcPts val="3000"/>
              </a:lnSpc>
            </a:pPr>
          </a:p>
          <a:p>
            <a:pPr algn="just">
              <a:lnSpc>
                <a:spcPts val="480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.Objective</a:t>
            </a:r>
          </a:p>
          <a:p>
            <a:pPr algn="just">
              <a:lnSpc>
                <a:spcPts val="3000"/>
              </a:lnSpc>
            </a:pPr>
          </a:p>
          <a:p>
            <a:pPr algn="just">
              <a:lnSpc>
                <a:spcPts val="480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.Base Paper</a:t>
            </a:r>
          </a:p>
          <a:p>
            <a:pPr algn="just">
              <a:lnSpc>
                <a:spcPts val="3000"/>
              </a:lnSpc>
            </a:pPr>
          </a:p>
          <a:p>
            <a:pPr algn="just">
              <a:lnSpc>
                <a:spcPts val="480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.Timeline</a:t>
            </a:r>
          </a:p>
          <a:p>
            <a:pPr algn="just">
              <a:lnSpc>
                <a:spcPts val="3000"/>
              </a:lnSpc>
            </a:pPr>
          </a:p>
          <a:p>
            <a:pPr algn="just">
              <a:lnSpc>
                <a:spcPts val="480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.Conclusion</a:t>
            </a:r>
          </a:p>
          <a:p>
            <a:pPr algn="just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71200" y="3497909"/>
            <a:ext cx="3302000" cy="3550538"/>
          </a:xfrm>
          <a:custGeom>
            <a:avLst/>
            <a:gdLst/>
            <a:ahLst/>
            <a:cxnLst/>
            <a:rect r="r" b="b" t="t" l="l"/>
            <a:pathLst>
              <a:path h="3550538" w="3302000">
                <a:moveTo>
                  <a:pt x="0" y="0"/>
                </a:moveTo>
                <a:lnTo>
                  <a:pt x="3302000" y="0"/>
                </a:lnTo>
                <a:lnTo>
                  <a:pt x="3302000" y="3550538"/>
                </a:lnTo>
                <a:lnTo>
                  <a:pt x="0" y="3550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25545" y="1201152"/>
            <a:ext cx="2246176" cy="808623"/>
          </a:xfrm>
          <a:custGeom>
            <a:avLst/>
            <a:gdLst/>
            <a:ahLst/>
            <a:cxnLst/>
            <a:rect r="r" b="b" t="t" l="l"/>
            <a:pathLst>
              <a:path h="808623" w="2246176">
                <a:moveTo>
                  <a:pt x="0" y="0"/>
                </a:moveTo>
                <a:lnTo>
                  <a:pt x="2246176" y="0"/>
                </a:lnTo>
                <a:lnTo>
                  <a:pt x="2246176" y="808623"/>
                </a:lnTo>
                <a:lnTo>
                  <a:pt x="0" y="8086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4583768" y="-410568"/>
            <a:ext cx="3293665" cy="4114800"/>
          </a:xfrm>
          <a:custGeom>
            <a:avLst/>
            <a:gdLst/>
            <a:ahLst/>
            <a:cxnLst/>
            <a:rect r="r" b="b" t="t" l="l"/>
            <a:pathLst>
              <a:path h="4114800" w="3293665">
                <a:moveTo>
                  <a:pt x="0" y="0"/>
                </a:moveTo>
                <a:lnTo>
                  <a:pt x="3293664" y="0"/>
                </a:lnTo>
                <a:lnTo>
                  <a:pt x="32936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330470" y="7305429"/>
            <a:ext cx="2651102" cy="3312041"/>
          </a:xfrm>
          <a:custGeom>
            <a:avLst/>
            <a:gdLst/>
            <a:ahLst/>
            <a:cxnLst/>
            <a:rect r="r" b="b" t="t" l="l"/>
            <a:pathLst>
              <a:path h="3312041" w="2651102">
                <a:moveTo>
                  <a:pt x="0" y="0"/>
                </a:moveTo>
                <a:lnTo>
                  <a:pt x="2651101" y="0"/>
                </a:lnTo>
                <a:lnTo>
                  <a:pt x="2651101" y="3312041"/>
                </a:lnTo>
                <a:lnTo>
                  <a:pt x="0" y="3312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4356" y="2324493"/>
            <a:ext cx="14193097" cy="717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3200" spc="-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storage offers convenience, but users often lack a way to verify if their data has been altered or deleted.</a:t>
            </a:r>
          </a:p>
          <a:p>
            <a:pPr algn="just">
              <a:lnSpc>
                <a:spcPts val="4060"/>
              </a:lnSpc>
            </a:pPr>
          </a:p>
          <a:p>
            <a:pPr algn="just">
              <a:lnSpc>
                <a:spcPts val="4800"/>
              </a:lnSpc>
            </a:pPr>
            <a:r>
              <a:rPr lang="en-US" sz="3200" spc="-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VeriCloud combines Bloom filters with blockchain to enable tamper-proof verification of cloud data without relying on the provider.</a:t>
            </a:r>
          </a:p>
          <a:p>
            <a:pPr algn="just">
              <a:lnSpc>
                <a:spcPts val="4800"/>
              </a:lnSpc>
            </a:pPr>
          </a:p>
          <a:p>
            <a:pPr algn="just">
              <a:lnSpc>
                <a:spcPts val="4800"/>
              </a:lnSpc>
            </a:pPr>
            <a:r>
              <a:rPr lang="en-US" sz="3200" spc="-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brings trust, transparency, and public auditability to cloud storage in a decentralized way.</a:t>
            </a:r>
          </a:p>
          <a:p>
            <a:pPr algn="just">
              <a:lnSpc>
                <a:spcPts val="6496"/>
              </a:lnSpc>
            </a:pPr>
          </a:p>
          <a:p>
            <a:pPr algn="just">
              <a:lnSpc>
                <a:spcPts val="6496"/>
              </a:lnSpc>
            </a:pPr>
          </a:p>
          <a:p>
            <a:pPr algn="just">
              <a:lnSpc>
                <a:spcPts val="649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87924" y="1186363"/>
            <a:ext cx="328957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  <a:spcBef>
                <a:spcPct val="0"/>
              </a:spcBef>
            </a:pPr>
            <a:r>
              <a:rPr lang="en-US" b="true" sz="4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71200" y="3497909"/>
            <a:ext cx="3302000" cy="3550538"/>
          </a:xfrm>
          <a:custGeom>
            <a:avLst/>
            <a:gdLst/>
            <a:ahLst/>
            <a:cxnLst/>
            <a:rect r="r" b="b" t="t" l="l"/>
            <a:pathLst>
              <a:path h="3550538" w="3302000">
                <a:moveTo>
                  <a:pt x="0" y="0"/>
                </a:moveTo>
                <a:lnTo>
                  <a:pt x="3302000" y="0"/>
                </a:lnTo>
                <a:lnTo>
                  <a:pt x="3302000" y="3550538"/>
                </a:lnTo>
                <a:lnTo>
                  <a:pt x="0" y="3550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9296" y="2486796"/>
            <a:ext cx="15396324" cy="616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 spc="-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cannot independently verify whether their data stored in the cloud has been altered or deleted, as they must rely on the cloud service provider’s assurances.</a:t>
            </a:r>
          </a:p>
          <a:p>
            <a:pPr algn="just">
              <a:lnSpc>
                <a:spcPts val="2880"/>
              </a:lnSpc>
            </a:pPr>
          </a:p>
          <a:p>
            <a:pPr algn="just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 spc="-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verification methods are resource-heavy and unsuitable for large-scale or frequent audits.</a:t>
            </a:r>
          </a:p>
          <a:p>
            <a:pPr algn="just">
              <a:lnSpc>
                <a:spcPts val="1680"/>
              </a:lnSpc>
            </a:pPr>
          </a:p>
          <a:p>
            <a:pPr algn="just" marL="690881" indent="-345440" lvl="1">
              <a:lnSpc>
                <a:spcPts val="6496"/>
              </a:lnSpc>
              <a:buFont typeface="Arial"/>
              <a:buChar char="•"/>
            </a:pPr>
            <a:r>
              <a:rPr lang="en-US" sz="3200" spc="-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verification introduces trust issues and creates a single point of failure.</a:t>
            </a:r>
          </a:p>
          <a:p>
            <a:pPr algn="just">
              <a:lnSpc>
                <a:spcPts val="2233"/>
              </a:lnSpc>
            </a:pPr>
          </a:p>
          <a:p>
            <a:pPr algn="just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 spc="-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for a privacy-preserving system that enables public auditing without revealing file content.</a:t>
            </a:r>
          </a:p>
          <a:p>
            <a:pPr algn="just">
              <a:lnSpc>
                <a:spcPts val="6698"/>
              </a:lnSpc>
            </a:pPr>
          </a:p>
          <a:p>
            <a:pPr algn="just">
              <a:lnSpc>
                <a:spcPts val="6698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577945" y="838209"/>
            <a:ext cx="3783492" cy="1362057"/>
          </a:xfrm>
          <a:custGeom>
            <a:avLst/>
            <a:gdLst/>
            <a:ahLst/>
            <a:cxnLst/>
            <a:rect r="r" b="b" t="t" l="l"/>
            <a:pathLst>
              <a:path h="1362057" w="3783492">
                <a:moveTo>
                  <a:pt x="0" y="0"/>
                </a:moveTo>
                <a:lnTo>
                  <a:pt x="3783492" y="0"/>
                </a:lnTo>
                <a:lnTo>
                  <a:pt x="3783492" y="1362057"/>
                </a:lnTo>
                <a:lnTo>
                  <a:pt x="0" y="13620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4583768" y="-410568"/>
            <a:ext cx="3293665" cy="4114800"/>
          </a:xfrm>
          <a:custGeom>
            <a:avLst/>
            <a:gdLst/>
            <a:ahLst/>
            <a:cxnLst/>
            <a:rect r="r" b="b" t="t" l="l"/>
            <a:pathLst>
              <a:path h="4114800" w="3293665">
                <a:moveTo>
                  <a:pt x="0" y="0"/>
                </a:moveTo>
                <a:lnTo>
                  <a:pt x="3293664" y="0"/>
                </a:lnTo>
                <a:lnTo>
                  <a:pt x="32936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330470" y="7305429"/>
            <a:ext cx="2651102" cy="3312041"/>
          </a:xfrm>
          <a:custGeom>
            <a:avLst/>
            <a:gdLst/>
            <a:ahLst/>
            <a:cxnLst/>
            <a:rect r="r" b="b" t="t" l="l"/>
            <a:pathLst>
              <a:path h="3312041" w="2651102">
                <a:moveTo>
                  <a:pt x="0" y="0"/>
                </a:moveTo>
                <a:lnTo>
                  <a:pt x="2651101" y="0"/>
                </a:lnTo>
                <a:lnTo>
                  <a:pt x="2651101" y="3312041"/>
                </a:lnTo>
                <a:lnTo>
                  <a:pt x="0" y="3312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42975"/>
            <a:ext cx="756667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spc="-13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2.Problem Definition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48907" y="9805778"/>
            <a:ext cx="512671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5170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https://doi.org/10.1155/2022/3688164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71200" y="3497909"/>
            <a:ext cx="3302000" cy="3550538"/>
          </a:xfrm>
          <a:custGeom>
            <a:avLst/>
            <a:gdLst/>
            <a:ahLst/>
            <a:cxnLst/>
            <a:rect r="r" b="b" t="t" l="l"/>
            <a:pathLst>
              <a:path h="3550538" w="3302000">
                <a:moveTo>
                  <a:pt x="0" y="0"/>
                </a:moveTo>
                <a:lnTo>
                  <a:pt x="3302000" y="0"/>
                </a:lnTo>
                <a:lnTo>
                  <a:pt x="3302000" y="3550538"/>
                </a:lnTo>
                <a:lnTo>
                  <a:pt x="0" y="3550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3900" y="2557780"/>
            <a:ext cx="15506700" cy="499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1645" indent="-345822" lvl="1">
              <a:lnSpc>
                <a:spcPts val="4805"/>
              </a:lnSpc>
              <a:buFont typeface="Arial"/>
              <a:buChar char="•"/>
            </a:pPr>
            <a:r>
              <a:rPr lang="en-US" sz="3203" spc="-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 and implement a privacy preserving verification system that ensures the integrity and authenticity of cloud-stored data by leveraging Bloom filters for efficient data summariz</a:t>
            </a:r>
            <a:r>
              <a:rPr lang="en-US" sz="3203" spc="-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ation </a:t>
            </a:r>
          </a:p>
          <a:p>
            <a:pPr algn="just">
              <a:lnSpc>
                <a:spcPts val="3005"/>
              </a:lnSpc>
            </a:pPr>
          </a:p>
          <a:p>
            <a:pPr algn="just" marL="691645" indent="-345822" lvl="1">
              <a:lnSpc>
                <a:spcPts val="4805"/>
              </a:lnSpc>
              <a:buFont typeface="Arial"/>
              <a:buChar char="•"/>
            </a:pPr>
            <a:r>
              <a:rPr lang="en-US" sz="3203" spc="-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technology for tamper-proof storage, enabling privacy-preserving and publicly verifiable audits without accessing the actual file content.</a:t>
            </a:r>
          </a:p>
          <a:p>
            <a:pPr algn="just">
              <a:lnSpc>
                <a:spcPts val="6503"/>
              </a:lnSpc>
            </a:pPr>
          </a:p>
          <a:p>
            <a:pPr algn="just">
              <a:lnSpc>
                <a:spcPts val="6503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425545" y="1201152"/>
            <a:ext cx="2246176" cy="808623"/>
          </a:xfrm>
          <a:custGeom>
            <a:avLst/>
            <a:gdLst/>
            <a:ahLst/>
            <a:cxnLst/>
            <a:rect r="r" b="b" t="t" l="l"/>
            <a:pathLst>
              <a:path h="808623" w="2246176">
                <a:moveTo>
                  <a:pt x="0" y="0"/>
                </a:moveTo>
                <a:lnTo>
                  <a:pt x="2246176" y="0"/>
                </a:lnTo>
                <a:lnTo>
                  <a:pt x="2246176" y="808623"/>
                </a:lnTo>
                <a:lnTo>
                  <a:pt x="0" y="8086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4583768" y="-410568"/>
            <a:ext cx="3293665" cy="4114800"/>
          </a:xfrm>
          <a:custGeom>
            <a:avLst/>
            <a:gdLst/>
            <a:ahLst/>
            <a:cxnLst/>
            <a:rect r="r" b="b" t="t" l="l"/>
            <a:pathLst>
              <a:path h="4114800" w="3293665">
                <a:moveTo>
                  <a:pt x="0" y="0"/>
                </a:moveTo>
                <a:lnTo>
                  <a:pt x="3293664" y="0"/>
                </a:lnTo>
                <a:lnTo>
                  <a:pt x="32936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330470" y="7305429"/>
            <a:ext cx="2651102" cy="3312041"/>
          </a:xfrm>
          <a:custGeom>
            <a:avLst/>
            <a:gdLst/>
            <a:ahLst/>
            <a:cxnLst/>
            <a:rect r="r" b="b" t="t" l="l"/>
            <a:pathLst>
              <a:path h="3312041" w="2651102">
                <a:moveTo>
                  <a:pt x="0" y="0"/>
                </a:moveTo>
                <a:lnTo>
                  <a:pt x="2651101" y="0"/>
                </a:lnTo>
                <a:lnTo>
                  <a:pt x="2651101" y="3312041"/>
                </a:lnTo>
                <a:lnTo>
                  <a:pt x="0" y="3312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42975"/>
            <a:ext cx="756667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80"/>
              </a:lnSpc>
            </a:pPr>
            <a:r>
              <a:rPr lang="en-US" b="true" sz="4400" spc="-13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3.Objective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25545" y="1201152"/>
            <a:ext cx="2246176" cy="808623"/>
          </a:xfrm>
          <a:custGeom>
            <a:avLst/>
            <a:gdLst/>
            <a:ahLst/>
            <a:cxnLst/>
            <a:rect r="r" b="b" t="t" l="l"/>
            <a:pathLst>
              <a:path h="808623" w="2246176">
                <a:moveTo>
                  <a:pt x="0" y="0"/>
                </a:moveTo>
                <a:lnTo>
                  <a:pt x="2246176" y="0"/>
                </a:lnTo>
                <a:lnTo>
                  <a:pt x="2246176" y="808623"/>
                </a:lnTo>
                <a:lnTo>
                  <a:pt x="0" y="808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4583768" y="-410568"/>
            <a:ext cx="3293665" cy="4114800"/>
          </a:xfrm>
          <a:custGeom>
            <a:avLst/>
            <a:gdLst/>
            <a:ahLst/>
            <a:cxnLst/>
            <a:rect r="r" b="b" t="t" l="l"/>
            <a:pathLst>
              <a:path h="4114800" w="3293665">
                <a:moveTo>
                  <a:pt x="0" y="0"/>
                </a:moveTo>
                <a:lnTo>
                  <a:pt x="3293664" y="0"/>
                </a:lnTo>
                <a:lnTo>
                  <a:pt x="32936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330470" y="7305429"/>
            <a:ext cx="2651102" cy="3312041"/>
          </a:xfrm>
          <a:custGeom>
            <a:avLst/>
            <a:gdLst/>
            <a:ahLst/>
            <a:cxnLst/>
            <a:rect r="r" b="b" t="t" l="l"/>
            <a:pathLst>
              <a:path h="3312041" w="2651102">
                <a:moveTo>
                  <a:pt x="0" y="0"/>
                </a:moveTo>
                <a:lnTo>
                  <a:pt x="2651101" y="0"/>
                </a:lnTo>
                <a:lnTo>
                  <a:pt x="2651101" y="3312041"/>
                </a:lnTo>
                <a:lnTo>
                  <a:pt x="0" y="3312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7326" y="942975"/>
            <a:ext cx="7566674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spc="-13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4.Base Paper</a:t>
            </a:r>
          </a:p>
          <a:p>
            <a:pPr algn="l">
              <a:lnSpc>
                <a:spcPts val="776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05547"/>
            <a:ext cx="16718926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Liang et al., 2023. Privacy-Preserving Bloom Filter-Based Keyword Search Over Large Encrypted Cloud Data, IEEE Transactions on Computers, Vol. 72, No. 11, November 2023.</a:t>
            </a:r>
          </a:p>
          <a:p>
            <a:pPr algn="just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</a:t>
            </a:r>
            <a:r>
              <a:rPr lang="en-US" sz="3200" u="sng">
                <a:solidFill>
                  <a:srgbClr val="5170FF"/>
                </a:solidFill>
                <a:latin typeface="Trebuchet MS"/>
                <a:ea typeface="Trebuchet MS"/>
                <a:cs typeface="Trebuchet MS"/>
                <a:sym typeface="Trebuchet MS"/>
                <a:hlinkClick r:id="rId6" tooltip="https://ieeexplore.ieee.org/document/10148628"/>
              </a:rPr>
              <a:t>https://ieeexplore.ieee.org/document/10148628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52834" y="838209"/>
            <a:ext cx="2246176" cy="808623"/>
          </a:xfrm>
          <a:custGeom>
            <a:avLst/>
            <a:gdLst/>
            <a:ahLst/>
            <a:cxnLst/>
            <a:rect r="r" b="b" t="t" l="l"/>
            <a:pathLst>
              <a:path h="808623" w="2246176">
                <a:moveTo>
                  <a:pt x="0" y="0"/>
                </a:moveTo>
                <a:lnTo>
                  <a:pt x="2246176" y="0"/>
                </a:lnTo>
                <a:lnTo>
                  <a:pt x="2246176" y="808623"/>
                </a:lnTo>
                <a:lnTo>
                  <a:pt x="0" y="808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4583768" y="-410568"/>
            <a:ext cx="3293665" cy="4114800"/>
          </a:xfrm>
          <a:custGeom>
            <a:avLst/>
            <a:gdLst/>
            <a:ahLst/>
            <a:cxnLst/>
            <a:rect r="r" b="b" t="t" l="l"/>
            <a:pathLst>
              <a:path h="4114800" w="3293665">
                <a:moveTo>
                  <a:pt x="0" y="0"/>
                </a:moveTo>
                <a:lnTo>
                  <a:pt x="3293664" y="0"/>
                </a:lnTo>
                <a:lnTo>
                  <a:pt x="32936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330470" y="7305429"/>
            <a:ext cx="2651102" cy="3312041"/>
          </a:xfrm>
          <a:custGeom>
            <a:avLst/>
            <a:gdLst/>
            <a:ahLst/>
            <a:cxnLst/>
            <a:rect r="r" b="b" t="t" l="l"/>
            <a:pathLst>
              <a:path h="3312041" w="2651102">
                <a:moveTo>
                  <a:pt x="0" y="0"/>
                </a:moveTo>
                <a:lnTo>
                  <a:pt x="2651101" y="0"/>
                </a:lnTo>
                <a:lnTo>
                  <a:pt x="2651101" y="3312041"/>
                </a:lnTo>
                <a:lnTo>
                  <a:pt x="0" y="3312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3919814"/>
            <a:ext cx="4117512" cy="517398"/>
            <a:chOff x="0" y="0"/>
            <a:chExt cx="5490016" cy="6898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9975" cy="689776"/>
            </a:xfrm>
            <a:custGeom>
              <a:avLst/>
              <a:gdLst/>
              <a:ahLst/>
              <a:cxnLst/>
              <a:rect r="r" b="b" t="t" l="l"/>
              <a:pathLst>
                <a:path h="689776" w="5489975">
                  <a:moveTo>
                    <a:pt x="0" y="0"/>
                  </a:moveTo>
                  <a:lnTo>
                    <a:pt x="5489975" y="0"/>
                  </a:lnTo>
                  <a:lnTo>
                    <a:pt x="5489975" y="689776"/>
                  </a:lnTo>
                  <a:lnTo>
                    <a:pt x="0" y="6897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490016" cy="73748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Analysis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2761504" y="2535225"/>
            <a:ext cx="384021" cy="384021"/>
            <a:chOff x="0" y="0"/>
            <a:chExt cx="512028" cy="5120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10800000">
            <a:off x="3593200" y="2537490"/>
            <a:ext cx="384021" cy="384021"/>
            <a:chOff x="0" y="0"/>
            <a:chExt cx="512028" cy="5120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-10800000">
            <a:off x="1100073" y="2540395"/>
            <a:ext cx="384021" cy="384021"/>
            <a:chOff x="0" y="0"/>
            <a:chExt cx="512028" cy="5120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-10800000">
            <a:off x="1100073" y="2145116"/>
            <a:ext cx="3687561" cy="226365"/>
            <a:chOff x="0" y="0"/>
            <a:chExt cx="4916748" cy="3018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16705" cy="301879"/>
            </a:xfrm>
            <a:custGeom>
              <a:avLst/>
              <a:gdLst/>
              <a:ahLst/>
              <a:cxnLst/>
              <a:rect r="r" b="b" t="t" l="l"/>
              <a:pathLst>
                <a:path h="301879" w="4916705">
                  <a:moveTo>
                    <a:pt x="0" y="150876"/>
                  </a:moveTo>
                  <a:cubicBezTo>
                    <a:pt x="0" y="67564"/>
                    <a:pt x="62995" y="0"/>
                    <a:pt x="140674" y="0"/>
                  </a:cubicBezTo>
                  <a:lnTo>
                    <a:pt x="4776032" y="0"/>
                  </a:lnTo>
                  <a:cubicBezTo>
                    <a:pt x="4853710" y="0"/>
                    <a:pt x="4916705" y="67564"/>
                    <a:pt x="4916705" y="150876"/>
                  </a:cubicBezTo>
                  <a:cubicBezTo>
                    <a:pt x="4916705" y="234188"/>
                    <a:pt x="4853710" y="301752"/>
                    <a:pt x="4776032" y="301752"/>
                  </a:cubicBezTo>
                  <a:lnTo>
                    <a:pt x="140674" y="301752"/>
                  </a:lnTo>
                  <a:cubicBezTo>
                    <a:pt x="62995" y="301879"/>
                    <a:pt x="0" y="234315"/>
                    <a:pt x="0" y="150876"/>
                  </a:cubicBezTo>
                  <a:close/>
                </a:path>
              </a:pathLst>
            </a:custGeom>
            <a:solidFill>
              <a:srgbClr val="FFC55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-10800000">
            <a:off x="4843218" y="2623947"/>
            <a:ext cx="324000" cy="216000"/>
            <a:chOff x="0" y="0"/>
            <a:chExt cx="432000" cy="288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2000" cy="288000"/>
            </a:xfrm>
            <a:custGeom>
              <a:avLst/>
              <a:gdLst/>
              <a:ahLst/>
              <a:cxnLst/>
              <a:rect r="r" b="b" t="t" l="l"/>
              <a:pathLst>
                <a:path h="288000" w="432000">
                  <a:moveTo>
                    <a:pt x="0" y="0"/>
                  </a:moveTo>
                  <a:lnTo>
                    <a:pt x="432000" y="0"/>
                  </a:lnTo>
                  <a:lnTo>
                    <a:pt x="432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32000" cy="29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Q1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631938" y="2587216"/>
            <a:ext cx="324000" cy="280039"/>
            <a:chOff x="0" y="0"/>
            <a:chExt cx="432000" cy="3733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2000" cy="373385"/>
            </a:xfrm>
            <a:custGeom>
              <a:avLst/>
              <a:gdLst/>
              <a:ahLst/>
              <a:cxnLst/>
              <a:rect r="r" b="b" t="t" l="l"/>
              <a:pathLst>
                <a:path h="373385" w="432000">
                  <a:moveTo>
                    <a:pt x="0" y="0"/>
                  </a:moveTo>
                  <a:lnTo>
                    <a:pt x="432000" y="0"/>
                  </a:lnTo>
                  <a:lnTo>
                    <a:pt x="432000" y="373385"/>
                  </a:lnTo>
                  <a:lnTo>
                    <a:pt x="0" y="373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432000" cy="382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792950" y="2623947"/>
            <a:ext cx="324000" cy="216000"/>
            <a:chOff x="0" y="0"/>
            <a:chExt cx="432000" cy="288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2000" cy="288000"/>
            </a:xfrm>
            <a:custGeom>
              <a:avLst/>
              <a:gdLst/>
              <a:ahLst/>
              <a:cxnLst/>
              <a:rect r="r" b="b" t="t" l="l"/>
              <a:pathLst>
                <a:path h="288000" w="432000">
                  <a:moveTo>
                    <a:pt x="0" y="0"/>
                  </a:moveTo>
                  <a:lnTo>
                    <a:pt x="432000" y="0"/>
                  </a:lnTo>
                  <a:lnTo>
                    <a:pt x="432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432000" cy="29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929808" y="2544972"/>
            <a:ext cx="384021" cy="384021"/>
            <a:chOff x="0" y="0"/>
            <a:chExt cx="512028" cy="512028"/>
          </a:xfrm>
        </p:grpSpPr>
        <p:grpSp>
          <p:nvGrpSpPr>
            <p:cNvPr name="Group 26" id="26"/>
            <p:cNvGrpSpPr/>
            <p:nvPr/>
          </p:nvGrpSpPr>
          <p:grpSpPr>
            <a:xfrm rot="-10800000">
              <a:off x="0" y="0"/>
              <a:ext cx="512028" cy="512028"/>
              <a:chOff x="0" y="0"/>
              <a:chExt cx="512028" cy="51202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12064" cy="512064"/>
              </a:xfrm>
              <a:custGeom>
                <a:avLst/>
                <a:gdLst/>
                <a:ahLst/>
                <a:cxnLst/>
                <a:rect r="r" b="b" t="t" l="l"/>
                <a:pathLst>
                  <a:path h="512064" w="512064">
                    <a:moveTo>
                      <a:pt x="0" y="256032"/>
                    </a:moveTo>
                    <a:cubicBezTo>
                      <a:pt x="0" y="114681"/>
                      <a:pt x="114681" y="0"/>
                      <a:pt x="256032" y="0"/>
                    </a:cubicBezTo>
                    <a:cubicBezTo>
                      <a:pt x="397383" y="0"/>
                      <a:pt x="512064" y="114681"/>
                      <a:pt x="512064" y="256032"/>
                    </a:cubicBezTo>
                    <a:cubicBezTo>
                      <a:pt x="512064" y="397383"/>
                      <a:pt x="397383" y="512064"/>
                      <a:pt x="256032" y="512064"/>
                    </a:cubicBezTo>
                    <a:cubicBezTo>
                      <a:pt x="114681" y="512064"/>
                      <a:pt x="0" y="397383"/>
                      <a:pt x="0" y="256032"/>
                    </a:cubicBezTo>
                    <a:close/>
                  </a:path>
                </a:pathLst>
              </a:custGeom>
              <a:solidFill>
                <a:srgbClr val="3F3F3F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41321" y="69322"/>
              <a:ext cx="432000" cy="373385"/>
              <a:chOff x="0" y="0"/>
              <a:chExt cx="432000" cy="37338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32000" cy="373385"/>
              </a:xfrm>
              <a:custGeom>
                <a:avLst/>
                <a:gdLst/>
                <a:ahLst/>
                <a:cxnLst/>
                <a:rect r="r" b="b" t="t" l="l"/>
                <a:pathLst>
                  <a:path h="373385" w="432000">
                    <a:moveTo>
                      <a:pt x="0" y="0"/>
                    </a:moveTo>
                    <a:lnTo>
                      <a:pt x="432000" y="0"/>
                    </a:lnTo>
                    <a:lnTo>
                      <a:pt x="432000" y="373385"/>
                    </a:lnTo>
                    <a:lnTo>
                      <a:pt x="0" y="37338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9525"/>
                <a:ext cx="432000" cy="3829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w2</a:t>
                </a:r>
              </a:p>
            </p:txBody>
          </p:sp>
        </p:grpSp>
      </p:grpSp>
      <p:sp>
        <p:nvSpPr>
          <p:cNvPr name="AutoShape 31" id="31"/>
          <p:cNvSpPr/>
          <p:nvPr/>
        </p:nvSpPr>
        <p:spPr>
          <a:xfrm>
            <a:off x="1292083" y="3031549"/>
            <a:ext cx="0" cy="372735"/>
          </a:xfrm>
          <a:prstGeom prst="line">
            <a:avLst/>
          </a:prstGeom>
          <a:ln cap="rnd" w="9525">
            <a:solidFill>
              <a:srgbClr val="D8D8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3977221" y="5641210"/>
            <a:ext cx="2341777" cy="290961"/>
            <a:chOff x="0" y="0"/>
            <a:chExt cx="3122369" cy="3879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22321" cy="387985"/>
            </a:xfrm>
            <a:custGeom>
              <a:avLst/>
              <a:gdLst/>
              <a:ahLst/>
              <a:cxnLst/>
              <a:rect r="r" b="b" t="t" l="l"/>
              <a:pathLst>
                <a:path h="387985" w="3122321">
                  <a:moveTo>
                    <a:pt x="0" y="193929"/>
                  </a:moveTo>
                  <a:cubicBezTo>
                    <a:pt x="0" y="86868"/>
                    <a:pt x="88576" y="0"/>
                    <a:pt x="197743" y="0"/>
                  </a:cubicBezTo>
                  <a:lnTo>
                    <a:pt x="2924578" y="0"/>
                  </a:lnTo>
                  <a:cubicBezTo>
                    <a:pt x="3033874" y="0"/>
                    <a:pt x="3122321" y="86868"/>
                    <a:pt x="3122321" y="193929"/>
                  </a:cubicBezTo>
                  <a:cubicBezTo>
                    <a:pt x="3122321" y="300990"/>
                    <a:pt x="3033745" y="387858"/>
                    <a:pt x="2924578" y="387858"/>
                  </a:cubicBezTo>
                  <a:lnTo>
                    <a:pt x="197743" y="387858"/>
                  </a:lnTo>
                  <a:cubicBezTo>
                    <a:pt x="88576" y="387985"/>
                    <a:pt x="0" y="301117"/>
                    <a:pt x="0" y="193929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-10800000">
            <a:off x="6094998" y="2546462"/>
            <a:ext cx="384021" cy="384021"/>
            <a:chOff x="0" y="0"/>
            <a:chExt cx="512028" cy="5120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-10800000">
            <a:off x="6926694" y="2535225"/>
            <a:ext cx="384021" cy="384021"/>
            <a:chOff x="0" y="0"/>
            <a:chExt cx="512028" cy="5120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-10800000">
            <a:off x="7758966" y="2535225"/>
            <a:ext cx="384021" cy="384021"/>
            <a:chOff x="0" y="0"/>
            <a:chExt cx="512028" cy="5120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-10800000">
            <a:off x="5264335" y="2546462"/>
            <a:ext cx="384021" cy="384021"/>
            <a:chOff x="0" y="0"/>
            <a:chExt cx="512028" cy="5120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095487" y="2617379"/>
            <a:ext cx="324000" cy="216000"/>
            <a:chOff x="0" y="0"/>
            <a:chExt cx="432000" cy="288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2000" cy="288000"/>
            </a:xfrm>
            <a:custGeom>
              <a:avLst/>
              <a:gdLst/>
              <a:ahLst/>
              <a:cxnLst/>
              <a:rect r="r" b="b" t="t" l="l"/>
              <a:pathLst>
                <a:path h="288000" w="432000">
                  <a:moveTo>
                    <a:pt x="0" y="0"/>
                  </a:moveTo>
                  <a:lnTo>
                    <a:pt x="432000" y="0"/>
                  </a:lnTo>
                  <a:lnTo>
                    <a:pt x="432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432000" cy="29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Q1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780887" y="2579302"/>
            <a:ext cx="324000" cy="280039"/>
            <a:chOff x="0" y="0"/>
            <a:chExt cx="432000" cy="37338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2000" cy="373385"/>
            </a:xfrm>
            <a:custGeom>
              <a:avLst/>
              <a:gdLst/>
              <a:ahLst/>
              <a:cxnLst/>
              <a:rect r="r" b="b" t="t" l="l"/>
              <a:pathLst>
                <a:path h="373385" w="432000">
                  <a:moveTo>
                    <a:pt x="0" y="0"/>
                  </a:moveTo>
                  <a:lnTo>
                    <a:pt x="432000" y="0"/>
                  </a:lnTo>
                  <a:lnTo>
                    <a:pt x="432000" y="373385"/>
                  </a:lnTo>
                  <a:lnTo>
                    <a:pt x="0" y="373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32000" cy="382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964794" y="2579302"/>
            <a:ext cx="324000" cy="280039"/>
            <a:chOff x="0" y="0"/>
            <a:chExt cx="432000" cy="37338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2000" cy="373385"/>
            </a:xfrm>
            <a:custGeom>
              <a:avLst/>
              <a:gdLst/>
              <a:ahLst/>
              <a:cxnLst/>
              <a:rect r="r" b="b" t="t" l="l"/>
              <a:pathLst>
                <a:path h="373385" w="432000">
                  <a:moveTo>
                    <a:pt x="0" y="0"/>
                  </a:moveTo>
                  <a:lnTo>
                    <a:pt x="432000" y="0"/>
                  </a:lnTo>
                  <a:lnTo>
                    <a:pt x="432000" y="373385"/>
                  </a:lnTo>
                  <a:lnTo>
                    <a:pt x="0" y="373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432000" cy="382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4131" y="2589482"/>
            <a:ext cx="324000" cy="280039"/>
            <a:chOff x="0" y="0"/>
            <a:chExt cx="432000" cy="37338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32000" cy="373385"/>
            </a:xfrm>
            <a:custGeom>
              <a:avLst/>
              <a:gdLst/>
              <a:ahLst/>
              <a:cxnLst/>
              <a:rect r="r" b="b" t="t" l="l"/>
              <a:pathLst>
                <a:path h="373385" w="432000">
                  <a:moveTo>
                    <a:pt x="0" y="0"/>
                  </a:moveTo>
                  <a:lnTo>
                    <a:pt x="432000" y="0"/>
                  </a:lnTo>
                  <a:lnTo>
                    <a:pt x="432000" y="373385"/>
                  </a:lnTo>
                  <a:lnTo>
                    <a:pt x="0" y="373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432000" cy="382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518631" y="6685101"/>
            <a:ext cx="8173904" cy="358014"/>
            <a:chOff x="0" y="0"/>
            <a:chExt cx="11007487" cy="48212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007482" cy="482092"/>
            </a:xfrm>
            <a:custGeom>
              <a:avLst/>
              <a:gdLst/>
              <a:ahLst/>
              <a:cxnLst/>
              <a:rect r="r" b="b" t="t" l="l"/>
              <a:pathLst>
                <a:path h="482092" w="11007482">
                  <a:moveTo>
                    <a:pt x="0" y="241046"/>
                  </a:moveTo>
                  <a:cubicBezTo>
                    <a:pt x="0" y="107950"/>
                    <a:pt x="107164" y="0"/>
                    <a:pt x="239290" y="0"/>
                  </a:cubicBezTo>
                  <a:lnTo>
                    <a:pt x="10768192" y="0"/>
                  </a:lnTo>
                  <a:cubicBezTo>
                    <a:pt x="10900318" y="0"/>
                    <a:pt x="11007482" y="107950"/>
                    <a:pt x="11007482" y="241046"/>
                  </a:cubicBezTo>
                  <a:cubicBezTo>
                    <a:pt x="11007482" y="374142"/>
                    <a:pt x="10900318" y="482092"/>
                    <a:pt x="10768192" y="482092"/>
                  </a:cubicBezTo>
                  <a:lnTo>
                    <a:pt x="239290" y="482092"/>
                  </a:lnTo>
                  <a:cubicBezTo>
                    <a:pt x="107164" y="482092"/>
                    <a:pt x="0" y="374142"/>
                    <a:pt x="0" y="241046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6" id="56"/>
          <p:cNvGrpSpPr/>
          <p:nvPr/>
        </p:nvGrpSpPr>
        <p:grpSpPr>
          <a:xfrm rot="-10800000">
            <a:off x="9428862" y="2140059"/>
            <a:ext cx="3715223" cy="236478"/>
            <a:chOff x="0" y="0"/>
            <a:chExt cx="4953630" cy="31530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953565" cy="315341"/>
            </a:xfrm>
            <a:custGeom>
              <a:avLst/>
              <a:gdLst/>
              <a:ahLst/>
              <a:cxnLst/>
              <a:rect r="r" b="b" t="t" l="l"/>
              <a:pathLst>
                <a:path h="315341" w="4953565">
                  <a:moveTo>
                    <a:pt x="0" y="157607"/>
                  </a:moveTo>
                  <a:cubicBezTo>
                    <a:pt x="0" y="70612"/>
                    <a:pt x="66184" y="0"/>
                    <a:pt x="147724" y="0"/>
                  </a:cubicBezTo>
                  <a:lnTo>
                    <a:pt x="4805841" y="0"/>
                  </a:lnTo>
                  <a:cubicBezTo>
                    <a:pt x="4887500" y="0"/>
                    <a:pt x="4953565" y="70612"/>
                    <a:pt x="4953565" y="157607"/>
                  </a:cubicBezTo>
                  <a:cubicBezTo>
                    <a:pt x="4953565" y="244602"/>
                    <a:pt x="4887381" y="315214"/>
                    <a:pt x="4805841" y="315214"/>
                  </a:cubicBezTo>
                  <a:lnTo>
                    <a:pt x="147724" y="315214"/>
                  </a:lnTo>
                  <a:cubicBezTo>
                    <a:pt x="66184" y="315341"/>
                    <a:pt x="0" y="244729"/>
                    <a:pt x="0" y="157607"/>
                  </a:cubicBezTo>
                  <a:close/>
                </a:path>
              </a:pathLst>
            </a:custGeom>
            <a:solidFill>
              <a:srgbClr val="FFC55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-10800000">
            <a:off x="13339479" y="2623947"/>
            <a:ext cx="324000" cy="216000"/>
            <a:chOff x="0" y="0"/>
            <a:chExt cx="432000" cy="288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2000" cy="288000"/>
            </a:xfrm>
            <a:custGeom>
              <a:avLst/>
              <a:gdLst/>
              <a:ahLst/>
              <a:cxnLst/>
              <a:rect r="r" b="b" t="t" l="l"/>
              <a:pathLst>
                <a:path h="288000" w="432000">
                  <a:moveTo>
                    <a:pt x="0" y="0"/>
                  </a:moveTo>
                  <a:lnTo>
                    <a:pt x="432000" y="0"/>
                  </a:lnTo>
                  <a:lnTo>
                    <a:pt x="432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432000" cy="29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Q1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-10800000">
            <a:off x="11928367" y="2535225"/>
            <a:ext cx="384021" cy="384021"/>
            <a:chOff x="0" y="0"/>
            <a:chExt cx="512028" cy="5120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966467" y="2579302"/>
            <a:ext cx="324000" cy="280039"/>
            <a:chOff x="0" y="0"/>
            <a:chExt cx="432000" cy="37338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32000" cy="373385"/>
            </a:xfrm>
            <a:custGeom>
              <a:avLst/>
              <a:gdLst/>
              <a:ahLst/>
              <a:cxnLst/>
              <a:rect r="r" b="b" t="t" l="l"/>
              <a:pathLst>
                <a:path h="373385" w="432000">
                  <a:moveTo>
                    <a:pt x="0" y="0"/>
                  </a:moveTo>
                  <a:lnTo>
                    <a:pt x="432000" y="0"/>
                  </a:lnTo>
                  <a:lnTo>
                    <a:pt x="432000" y="373385"/>
                  </a:lnTo>
                  <a:lnTo>
                    <a:pt x="0" y="373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432000" cy="382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w4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-10800000">
            <a:off x="11096671" y="2535225"/>
            <a:ext cx="384021" cy="384021"/>
            <a:chOff x="0" y="0"/>
            <a:chExt cx="512028" cy="5120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134771" y="2581017"/>
            <a:ext cx="324000" cy="280039"/>
            <a:chOff x="0" y="0"/>
            <a:chExt cx="432000" cy="37338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32000" cy="373385"/>
            </a:xfrm>
            <a:custGeom>
              <a:avLst/>
              <a:gdLst/>
              <a:ahLst/>
              <a:cxnLst/>
              <a:rect r="r" b="b" t="t" l="l"/>
              <a:pathLst>
                <a:path h="373385" w="432000">
                  <a:moveTo>
                    <a:pt x="0" y="0"/>
                  </a:moveTo>
                  <a:lnTo>
                    <a:pt x="432000" y="0"/>
                  </a:lnTo>
                  <a:lnTo>
                    <a:pt x="432000" y="373385"/>
                  </a:lnTo>
                  <a:lnTo>
                    <a:pt x="0" y="373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432000" cy="382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w3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-10800000">
            <a:off x="9428862" y="2535225"/>
            <a:ext cx="384021" cy="384021"/>
            <a:chOff x="0" y="0"/>
            <a:chExt cx="512028" cy="51202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9441550" y="2595497"/>
            <a:ext cx="35864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w1</a:t>
            </a:r>
          </a:p>
        </p:txBody>
      </p:sp>
      <p:grpSp>
        <p:nvGrpSpPr>
          <p:cNvPr name="Group 74" id="74"/>
          <p:cNvGrpSpPr/>
          <p:nvPr/>
        </p:nvGrpSpPr>
        <p:grpSpPr>
          <a:xfrm rot="-10800000">
            <a:off x="10264975" y="2535225"/>
            <a:ext cx="384021" cy="384021"/>
            <a:chOff x="0" y="0"/>
            <a:chExt cx="512028" cy="51202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10285821" y="2595497"/>
            <a:ext cx="35864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w2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2760063" y="2535225"/>
            <a:ext cx="384021" cy="384021"/>
            <a:chOff x="0" y="0"/>
            <a:chExt cx="512028" cy="512028"/>
          </a:xfrm>
        </p:grpSpPr>
        <p:grpSp>
          <p:nvGrpSpPr>
            <p:cNvPr name="Group 78" id="78"/>
            <p:cNvGrpSpPr/>
            <p:nvPr/>
          </p:nvGrpSpPr>
          <p:grpSpPr>
            <a:xfrm rot="-10800000">
              <a:off x="0" y="0"/>
              <a:ext cx="512028" cy="512028"/>
              <a:chOff x="0" y="0"/>
              <a:chExt cx="512028" cy="512028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512064" cy="512064"/>
              </a:xfrm>
              <a:custGeom>
                <a:avLst/>
                <a:gdLst/>
                <a:ahLst/>
                <a:cxnLst/>
                <a:rect r="r" b="b" t="t" l="l"/>
                <a:pathLst>
                  <a:path h="512064" w="512064">
                    <a:moveTo>
                      <a:pt x="0" y="256032"/>
                    </a:moveTo>
                    <a:cubicBezTo>
                      <a:pt x="0" y="114681"/>
                      <a:pt x="114681" y="0"/>
                      <a:pt x="256032" y="0"/>
                    </a:cubicBezTo>
                    <a:cubicBezTo>
                      <a:pt x="397383" y="0"/>
                      <a:pt x="512064" y="114681"/>
                      <a:pt x="512064" y="256032"/>
                    </a:cubicBezTo>
                    <a:cubicBezTo>
                      <a:pt x="512064" y="397383"/>
                      <a:pt x="397383" y="512064"/>
                      <a:pt x="256032" y="512064"/>
                    </a:cubicBezTo>
                    <a:cubicBezTo>
                      <a:pt x="114681" y="512064"/>
                      <a:pt x="0" y="397383"/>
                      <a:pt x="0" y="256032"/>
                    </a:cubicBezTo>
                    <a:close/>
                  </a:path>
                </a:pathLst>
              </a:custGeom>
              <a:solidFill>
                <a:srgbClr val="3F3F3F"/>
              </a:solidFill>
            </p:spPr>
          </p:sp>
        </p:grpSp>
        <p:grpSp>
          <p:nvGrpSpPr>
            <p:cNvPr name="Group 80" id="80"/>
            <p:cNvGrpSpPr/>
            <p:nvPr/>
          </p:nvGrpSpPr>
          <p:grpSpPr>
            <a:xfrm rot="0">
              <a:off x="50600" y="64624"/>
              <a:ext cx="432000" cy="373385"/>
              <a:chOff x="0" y="0"/>
              <a:chExt cx="432000" cy="373385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432000" cy="373385"/>
              </a:xfrm>
              <a:custGeom>
                <a:avLst/>
                <a:gdLst/>
                <a:ahLst/>
                <a:cxnLst/>
                <a:rect r="r" b="b" t="t" l="l"/>
                <a:pathLst>
                  <a:path h="373385" w="432000">
                    <a:moveTo>
                      <a:pt x="0" y="0"/>
                    </a:moveTo>
                    <a:lnTo>
                      <a:pt x="432000" y="0"/>
                    </a:lnTo>
                    <a:lnTo>
                      <a:pt x="432000" y="373385"/>
                    </a:lnTo>
                    <a:lnTo>
                      <a:pt x="0" y="37338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9525"/>
                <a:ext cx="432000" cy="3829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w5</a:t>
                </a:r>
              </a:p>
            </p:txBody>
          </p:sp>
        </p:grpSp>
      </p:grpSp>
      <p:grpSp>
        <p:nvGrpSpPr>
          <p:cNvPr name="Group 83" id="83"/>
          <p:cNvGrpSpPr/>
          <p:nvPr/>
        </p:nvGrpSpPr>
        <p:grpSpPr>
          <a:xfrm rot="-4096">
            <a:off x="2420098" y="7817976"/>
            <a:ext cx="13156858" cy="439653"/>
            <a:chOff x="0" y="0"/>
            <a:chExt cx="17542477" cy="58620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7542467" cy="586232"/>
            </a:xfrm>
            <a:custGeom>
              <a:avLst/>
              <a:gdLst/>
              <a:ahLst/>
              <a:cxnLst/>
              <a:rect r="r" b="b" t="t" l="l"/>
              <a:pathLst>
                <a:path h="586232" w="17542467">
                  <a:moveTo>
                    <a:pt x="0" y="293116"/>
                  </a:moveTo>
                  <a:cubicBezTo>
                    <a:pt x="0" y="131191"/>
                    <a:pt x="129163" y="0"/>
                    <a:pt x="288584" y="0"/>
                  </a:cubicBezTo>
                  <a:lnTo>
                    <a:pt x="17253885" y="0"/>
                  </a:lnTo>
                  <a:cubicBezTo>
                    <a:pt x="17413306" y="0"/>
                    <a:pt x="17542467" y="131191"/>
                    <a:pt x="17542467" y="293116"/>
                  </a:cubicBezTo>
                  <a:cubicBezTo>
                    <a:pt x="17542467" y="455041"/>
                    <a:pt x="17413306" y="586232"/>
                    <a:pt x="17253885" y="586232"/>
                  </a:cubicBezTo>
                  <a:lnTo>
                    <a:pt x="288584" y="586232"/>
                  </a:lnTo>
                  <a:cubicBezTo>
                    <a:pt x="129163" y="586232"/>
                    <a:pt x="0" y="454914"/>
                    <a:pt x="0" y="293116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AutoShape 85" id="85"/>
          <p:cNvSpPr/>
          <p:nvPr/>
        </p:nvSpPr>
        <p:spPr>
          <a:xfrm>
            <a:off x="14644041" y="2919246"/>
            <a:ext cx="0" cy="3808995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6" id="86"/>
          <p:cNvGrpSpPr/>
          <p:nvPr/>
        </p:nvGrpSpPr>
        <p:grpSpPr>
          <a:xfrm rot="-10800000">
            <a:off x="14452030" y="2535225"/>
            <a:ext cx="384021" cy="384021"/>
            <a:chOff x="0" y="0"/>
            <a:chExt cx="512028" cy="51202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88" id="88"/>
          <p:cNvGrpSpPr/>
          <p:nvPr/>
        </p:nvGrpSpPr>
        <p:grpSpPr>
          <a:xfrm rot="10795903">
            <a:off x="15280566" y="2537489"/>
            <a:ext cx="384021" cy="384021"/>
            <a:chOff x="0" y="0"/>
            <a:chExt cx="512028" cy="51202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90" id="90"/>
          <p:cNvGrpSpPr/>
          <p:nvPr/>
        </p:nvGrpSpPr>
        <p:grpSpPr>
          <a:xfrm rot="-10800000">
            <a:off x="16115422" y="2540395"/>
            <a:ext cx="384021" cy="384021"/>
            <a:chOff x="0" y="0"/>
            <a:chExt cx="512028" cy="51202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92" id="92"/>
          <p:cNvGrpSpPr/>
          <p:nvPr/>
        </p:nvGrpSpPr>
        <p:grpSpPr>
          <a:xfrm rot="-10800000">
            <a:off x="13620334" y="2535225"/>
            <a:ext cx="384021" cy="384021"/>
            <a:chOff x="0" y="0"/>
            <a:chExt cx="512028" cy="51202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6143997" y="2579302"/>
            <a:ext cx="324000" cy="280039"/>
            <a:chOff x="0" y="0"/>
            <a:chExt cx="432000" cy="37338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32000" cy="373385"/>
            </a:xfrm>
            <a:custGeom>
              <a:avLst/>
              <a:gdLst/>
              <a:ahLst/>
              <a:cxnLst/>
              <a:rect r="r" b="b" t="t" l="l"/>
              <a:pathLst>
                <a:path h="373385" w="432000">
                  <a:moveTo>
                    <a:pt x="0" y="0"/>
                  </a:moveTo>
                  <a:lnTo>
                    <a:pt x="432000" y="0"/>
                  </a:lnTo>
                  <a:lnTo>
                    <a:pt x="432000" y="373385"/>
                  </a:lnTo>
                  <a:lnTo>
                    <a:pt x="0" y="373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432000" cy="382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w4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5331351" y="2571244"/>
            <a:ext cx="324000" cy="280039"/>
            <a:chOff x="0" y="0"/>
            <a:chExt cx="432000" cy="37338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32000" cy="373385"/>
            </a:xfrm>
            <a:custGeom>
              <a:avLst/>
              <a:gdLst/>
              <a:ahLst/>
              <a:cxnLst/>
              <a:rect r="r" b="b" t="t" l="l"/>
              <a:pathLst>
                <a:path h="373385" w="432000">
                  <a:moveTo>
                    <a:pt x="0" y="0"/>
                  </a:moveTo>
                  <a:lnTo>
                    <a:pt x="432000" y="0"/>
                  </a:lnTo>
                  <a:lnTo>
                    <a:pt x="432000" y="373385"/>
                  </a:lnTo>
                  <a:lnTo>
                    <a:pt x="0" y="373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432000" cy="382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w3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4480605" y="2581017"/>
            <a:ext cx="324000" cy="280039"/>
            <a:chOff x="0" y="0"/>
            <a:chExt cx="432000" cy="373385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32000" cy="373385"/>
            </a:xfrm>
            <a:custGeom>
              <a:avLst/>
              <a:gdLst/>
              <a:ahLst/>
              <a:cxnLst/>
              <a:rect r="r" b="b" t="t" l="l"/>
              <a:pathLst>
                <a:path h="373385" w="432000">
                  <a:moveTo>
                    <a:pt x="0" y="0"/>
                  </a:moveTo>
                  <a:lnTo>
                    <a:pt x="432000" y="0"/>
                  </a:lnTo>
                  <a:lnTo>
                    <a:pt x="432000" y="373385"/>
                  </a:lnTo>
                  <a:lnTo>
                    <a:pt x="0" y="373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432000" cy="382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w2</a:t>
              </a:r>
            </a:p>
          </p:txBody>
        </p:sp>
      </p:grpSp>
      <p:sp>
        <p:nvSpPr>
          <p:cNvPr name="AutoShape 103" id="103" descr="Time line"/>
          <p:cNvSpPr/>
          <p:nvPr/>
        </p:nvSpPr>
        <p:spPr>
          <a:xfrm flipH="true">
            <a:off x="1292083" y="2535225"/>
            <a:ext cx="15847046" cy="5143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4" id="104"/>
          <p:cNvGrpSpPr/>
          <p:nvPr/>
        </p:nvGrpSpPr>
        <p:grpSpPr>
          <a:xfrm rot="0">
            <a:off x="1304521" y="3575493"/>
            <a:ext cx="857051" cy="268120"/>
            <a:chOff x="0" y="0"/>
            <a:chExt cx="1142734" cy="35749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142619" cy="357505"/>
            </a:xfrm>
            <a:custGeom>
              <a:avLst/>
              <a:gdLst/>
              <a:ahLst/>
              <a:cxnLst/>
              <a:rect r="r" b="b" t="t" l="l"/>
              <a:pathLst>
                <a:path h="357505" w="114261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963930" y="0"/>
                  </a:lnTo>
                  <a:cubicBezTo>
                    <a:pt x="1062609" y="0"/>
                    <a:pt x="1142619" y="80010"/>
                    <a:pt x="1142619" y="178689"/>
                  </a:cubicBezTo>
                  <a:cubicBezTo>
                    <a:pt x="1142619" y="277368"/>
                    <a:pt x="1062736" y="357505"/>
                    <a:pt x="963930" y="357505"/>
                  </a:cubicBezTo>
                  <a:lnTo>
                    <a:pt x="178689" y="357505"/>
                  </a:lnTo>
                  <a:cubicBezTo>
                    <a:pt x="80010" y="357505"/>
                    <a:pt x="0" y="277495"/>
                    <a:pt x="0" y="178689"/>
                  </a:cubicBezTo>
                  <a:close/>
                </a:path>
              </a:pathLst>
            </a:custGeom>
            <a:solidFill>
              <a:srgbClr val="C5E0B4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2419841" y="7816250"/>
            <a:ext cx="616999" cy="449218"/>
            <a:chOff x="0" y="0"/>
            <a:chExt cx="864076" cy="629107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64108" cy="629175"/>
            </a:xfrm>
            <a:custGeom>
              <a:avLst/>
              <a:gdLst/>
              <a:ahLst/>
              <a:cxnLst/>
              <a:rect r="r" b="b" t="t" l="l"/>
              <a:pathLst>
                <a:path h="629175" w="864108">
                  <a:moveTo>
                    <a:pt x="0" y="314590"/>
                  </a:moveTo>
                  <a:cubicBezTo>
                    <a:pt x="0" y="140882"/>
                    <a:pt x="130810" y="0"/>
                    <a:pt x="292100" y="0"/>
                  </a:cubicBezTo>
                  <a:lnTo>
                    <a:pt x="572008" y="0"/>
                  </a:lnTo>
                  <a:cubicBezTo>
                    <a:pt x="733298" y="0"/>
                    <a:pt x="864108" y="140882"/>
                    <a:pt x="864108" y="314590"/>
                  </a:cubicBezTo>
                  <a:cubicBezTo>
                    <a:pt x="864108" y="488299"/>
                    <a:pt x="733298" y="629175"/>
                    <a:pt x="572008" y="629175"/>
                  </a:cubicBezTo>
                  <a:lnTo>
                    <a:pt x="292100" y="629175"/>
                  </a:lnTo>
                  <a:cubicBezTo>
                    <a:pt x="130810" y="629175"/>
                    <a:pt x="0" y="488299"/>
                    <a:pt x="0" y="31459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2161572" y="4518977"/>
            <a:ext cx="2472151" cy="268120"/>
            <a:chOff x="0" y="0"/>
            <a:chExt cx="3296202" cy="35749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296073" cy="357505"/>
            </a:xfrm>
            <a:custGeom>
              <a:avLst/>
              <a:gdLst/>
              <a:ahLst/>
              <a:cxnLst/>
              <a:rect r="r" b="b" t="t" l="l"/>
              <a:pathLst>
                <a:path h="357505" w="3296073">
                  <a:moveTo>
                    <a:pt x="0" y="178689"/>
                  </a:moveTo>
                  <a:cubicBezTo>
                    <a:pt x="0" y="80010"/>
                    <a:pt x="101126" y="0"/>
                    <a:pt x="225849" y="0"/>
                  </a:cubicBezTo>
                  <a:lnTo>
                    <a:pt x="3070225" y="0"/>
                  </a:lnTo>
                  <a:cubicBezTo>
                    <a:pt x="3194947" y="0"/>
                    <a:pt x="3296073" y="80010"/>
                    <a:pt x="3296073" y="178689"/>
                  </a:cubicBezTo>
                  <a:cubicBezTo>
                    <a:pt x="3296073" y="277368"/>
                    <a:pt x="3194947" y="357378"/>
                    <a:pt x="3070225" y="357378"/>
                  </a:cubicBezTo>
                  <a:lnTo>
                    <a:pt x="225849" y="357378"/>
                  </a:lnTo>
                  <a:cubicBezTo>
                    <a:pt x="101126" y="357505"/>
                    <a:pt x="0" y="277495"/>
                    <a:pt x="0" y="178689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AutoShape 110" id="110"/>
          <p:cNvSpPr/>
          <p:nvPr/>
        </p:nvSpPr>
        <p:spPr>
          <a:xfrm flipH="true">
            <a:off x="6276388" y="2930483"/>
            <a:ext cx="10621" cy="275417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1" id="111"/>
          <p:cNvSpPr/>
          <p:nvPr/>
        </p:nvSpPr>
        <p:spPr>
          <a:xfrm>
            <a:off x="2953514" y="2919246"/>
            <a:ext cx="0" cy="679996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2" id="112"/>
          <p:cNvGrpSpPr/>
          <p:nvPr/>
        </p:nvGrpSpPr>
        <p:grpSpPr>
          <a:xfrm rot="0">
            <a:off x="2055801" y="4518977"/>
            <a:ext cx="1418802" cy="268120"/>
            <a:chOff x="0" y="0"/>
            <a:chExt cx="1891736" cy="357494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891555" cy="357505"/>
            </a:xfrm>
            <a:custGeom>
              <a:avLst/>
              <a:gdLst/>
              <a:ahLst/>
              <a:cxnLst/>
              <a:rect r="r" b="b" t="t" l="l"/>
              <a:pathLst>
                <a:path h="357505" w="1891555">
                  <a:moveTo>
                    <a:pt x="0" y="178689"/>
                  </a:moveTo>
                  <a:cubicBezTo>
                    <a:pt x="0" y="80010"/>
                    <a:pt x="95008" y="0"/>
                    <a:pt x="212183" y="0"/>
                  </a:cubicBezTo>
                  <a:lnTo>
                    <a:pt x="1679371" y="0"/>
                  </a:lnTo>
                  <a:cubicBezTo>
                    <a:pt x="1796547" y="0"/>
                    <a:pt x="1891555" y="80010"/>
                    <a:pt x="1891555" y="178689"/>
                  </a:cubicBezTo>
                  <a:cubicBezTo>
                    <a:pt x="1891555" y="277368"/>
                    <a:pt x="1796547" y="357378"/>
                    <a:pt x="1679371" y="357378"/>
                  </a:cubicBezTo>
                  <a:lnTo>
                    <a:pt x="212183" y="357378"/>
                  </a:lnTo>
                  <a:cubicBezTo>
                    <a:pt x="95008" y="357505"/>
                    <a:pt x="0" y="277495"/>
                    <a:pt x="0" y="178689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112761" y="3575493"/>
            <a:ext cx="1886078" cy="268120"/>
            <a:chOff x="0" y="0"/>
            <a:chExt cx="2514771" cy="35749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514715" cy="357505"/>
            </a:xfrm>
            <a:custGeom>
              <a:avLst/>
              <a:gdLst/>
              <a:ahLst/>
              <a:cxnLst/>
              <a:rect r="r" b="b" t="t" l="l"/>
              <a:pathLst>
                <a:path h="357505" w="2514715">
                  <a:moveTo>
                    <a:pt x="0" y="178689"/>
                  </a:moveTo>
                  <a:cubicBezTo>
                    <a:pt x="0" y="80010"/>
                    <a:pt x="82566" y="0"/>
                    <a:pt x="184397" y="0"/>
                  </a:cubicBezTo>
                  <a:lnTo>
                    <a:pt x="2330319" y="0"/>
                  </a:lnTo>
                  <a:cubicBezTo>
                    <a:pt x="2432150" y="0"/>
                    <a:pt x="2514715" y="80010"/>
                    <a:pt x="2514715" y="178689"/>
                  </a:cubicBezTo>
                  <a:cubicBezTo>
                    <a:pt x="2514715" y="277368"/>
                    <a:pt x="2432150" y="357378"/>
                    <a:pt x="2330319" y="357378"/>
                  </a:cubicBezTo>
                  <a:lnTo>
                    <a:pt x="184397" y="357378"/>
                  </a:lnTo>
                  <a:cubicBezTo>
                    <a:pt x="82566" y="357505"/>
                    <a:pt x="0" y="277495"/>
                    <a:pt x="0" y="178689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AutoShape 116" id="116"/>
          <p:cNvSpPr/>
          <p:nvPr/>
        </p:nvSpPr>
        <p:spPr>
          <a:xfrm flipH="true">
            <a:off x="4595623" y="2928993"/>
            <a:ext cx="0" cy="1633219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7" id="117"/>
          <p:cNvSpPr/>
          <p:nvPr/>
        </p:nvSpPr>
        <p:spPr>
          <a:xfrm>
            <a:off x="15472805" y="2921510"/>
            <a:ext cx="0" cy="4920742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8" id="118"/>
          <p:cNvGrpSpPr/>
          <p:nvPr/>
        </p:nvGrpSpPr>
        <p:grpSpPr>
          <a:xfrm rot="0">
            <a:off x="1741546" y="9498010"/>
            <a:ext cx="373176" cy="307971"/>
            <a:chOff x="0" y="0"/>
            <a:chExt cx="497568" cy="41062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97586" cy="410591"/>
            </a:xfrm>
            <a:custGeom>
              <a:avLst/>
              <a:gdLst/>
              <a:ahLst/>
              <a:cxnLst/>
              <a:rect r="r" b="b" t="t" l="l"/>
              <a:pathLst>
                <a:path h="410591" w="497586">
                  <a:moveTo>
                    <a:pt x="0" y="0"/>
                  </a:moveTo>
                  <a:lnTo>
                    <a:pt x="497586" y="0"/>
                  </a:lnTo>
                  <a:lnTo>
                    <a:pt x="497586" y="410591"/>
                  </a:lnTo>
                  <a:lnTo>
                    <a:pt x="0" y="410591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722496" y="8961449"/>
            <a:ext cx="392226" cy="327021"/>
            <a:chOff x="0" y="0"/>
            <a:chExt cx="522968" cy="43602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12700" y="12700"/>
              <a:ext cx="497586" cy="410591"/>
            </a:xfrm>
            <a:custGeom>
              <a:avLst/>
              <a:gdLst/>
              <a:ahLst/>
              <a:cxnLst/>
              <a:rect r="r" b="b" t="t" l="l"/>
              <a:pathLst>
                <a:path h="410591" w="497586">
                  <a:moveTo>
                    <a:pt x="0" y="0"/>
                  </a:moveTo>
                  <a:lnTo>
                    <a:pt x="497586" y="0"/>
                  </a:lnTo>
                  <a:lnTo>
                    <a:pt x="497586" y="410591"/>
                  </a:lnTo>
                  <a:lnTo>
                    <a:pt x="0" y="410591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22986" cy="435991"/>
            </a:xfrm>
            <a:custGeom>
              <a:avLst/>
              <a:gdLst/>
              <a:ahLst/>
              <a:cxnLst/>
              <a:rect r="r" b="b" t="t" l="l"/>
              <a:pathLst>
                <a:path h="435991" w="522986">
                  <a:moveTo>
                    <a:pt x="12700" y="0"/>
                  </a:moveTo>
                  <a:lnTo>
                    <a:pt x="510286" y="0"/>
                  </a:lnTo>
                  <a:cubicBezTo>
                    <a:pt x="517271" y="0"/>
                    <a:pt x="522986" y="5715"/>
                    <a:pt x="522986" y="12700"/>
                  </a:cubicBezTo>
                  <a:lnTo>
                    <a:pt x="522986" y="423291"/>
                  </a:lnTo>
                  <a:cubicBezTo>
                    <a:pt x="522986" y="430276"/>
                    <a:pt x="517271" y="435991"/>
                    <a:pt x="510286" y="435991"/>
                  </a:cubicBezTo>
                  <a:lnTo>
                    <a:pt x="12700" y="435991"/>
                  </a:lnTo>
                  <a:cubicBezTo>
                    <a:pt x="5715" y="435991"/>
                    <a:pt x="0" y="430276"/>
                    <a:pt x="0" y="423291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23291"/>
                  </a:lnTo>
                  <a:lnTo>
                    <a:pt x="12700" y="423291"/>
                  </a:lnTo>
                  <a:lnTo>
                    <a:pt x="12700" y="410591"/>
                  </a:lnTo>
                  <a:lnTo>
                    <a:pt x="510286" y="410591"/>
                  </a:lnTo>
                  <a:lnTo>
                    <a:pt x="510286" y="423291"/>
                  </a:lnTo>
                  <a:lnTo>
                    <a:pt x="497586" y="423291"/>
                  </a:lnTo>
                  <a:lnTo>
                    <a:pt x="497586" y="12700"/>
                  </a:lnTo>
                  <a:lnTo>
                    <a:pt x="510286" y="12700"/>
                  </a:lnTo>
                  <a:lnTo>
                    <a:pt x="510286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7434B"/>
            </a:solidFill>
          </p:spPr>
        </p:sp>
      </p:grpSp>
      <p:sp>
        <p:nvSpPr>
          <p:cNvPr name="TextBox 123" id="123"/>
          <p:cNvSpPr txBox="true"/>
          <p:nvPr/>
        </p:nvSpPr>
        <p:spPr>
          <a:xfrm rot="0">
            <a:off x="1004297" y="501867"/>
            <a:ext cx="756667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spc="-13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5.Timeline 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112761" y="1666923"/>
            <a:ext cx="364486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JULY 2025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3977221" y="5960745"/>
            <a:ext cx="234177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System Design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5264335" y="1635342"/>
            <a:ext cx="368827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AUGUST 2025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6518631" y="7072442"/>
            <a:ext cx="817390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Implementation and Testing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9419487" y="1643828"/>
            <a:ext cx="372459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SEPTEMBER 2025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2410487" y="8294043"/>
            <a:ext cx="1316672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Project Report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3663479" y="1666997"/>
            <a:ext cx="342913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OCTOBER 2025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3645711" y="2587438"/>
            <a:ext cx="35864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w1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5289712" y="2608581"/>
            <a:ext cx="35864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w1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2055801" y="4815672"/>
            <a:ext cx="257792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Literature Survey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2161572" y="8904299"/>
            <a:ext cx="262606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595959"/>
                </a:solidFill>
                <a:latin typeface="Arial Bold"/>
                <a:ea typeface="Arial Bold"/>
                <a:cs typeface="Arial Bold"/>
                <a:sym typeface="Arial Bold"/>
              </a:rPr>
              <a:t>Completed Work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2045890" y="9396407"/>
            <a:ext cx="262606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595959"/>
                </a:solidFill>
                <a:latin typeface="Arial Bold"/>
                <a:ea typeface="Arial Bold"/>
                <a:cs typeface="Arial Bold"/>
                <a:sym typeface="Arial Bold"/>
              </a:rPr>
              <a:t>Pending Work</a:t>
            </a:r>
          </a:p>
        </p:txBody>
      </p:sp>
      <p:grpSp>
        <p:nvGrpSpPr>
          <p:cNvPr name="Group 137" id="137"/>
          <p:cNvGrpSpPr/>
          <p:nvPr/>
        </p:nvGrpSpPr>
        <p:grpSpPr>
          <a:xfrm rot="-10800000">
            <a:off x="4403613" y="2544972"/>
            <a:ext cx="384021" cy="384021"/>
            <a:chOff x="0" y="0"/>
            <a:chExt cx="512028" cy="51202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4433623" y="2587216"/>
            <a:ext cx="324000" cy="280039"/>
            <a:chOff x="0" y="0"/>
            <a:chExt cx="432000" cy="373385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432000" cy="373385"/>
            </a:xfrm>
            <a:custGeom>
              <a:avLst/>
              <a:gdLst/>
              <a:ahLst/>
              <a:cxnLst/>
              <a:rect r="r" b="b" t="t" l="l"/>
              <a:pathLst>
                <a:path h="373385" w="432000">
                  <a:moveTo>
                    <a:pt x="0" y="0"/>
                  </a:moveTo>
                  <a:lnTo>
                    <a:pt x="432000" y="0"/>
                  </a:lnTo>
                  <a:lnTo>
                    <a:pt x="432000" y="373385"/>
                  </a:lnTo>
                  <a:lnTo>
                    <a:pt x="0" y="373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9525"/>
              <a:ext cx="432000" cy="382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w5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-10800000">
            <a:off x="8590662" y="2535225"/>
            <a:ext cx="384021" cy="384021"/>
            <a:chOff x="0" y="0"/>
            <a:chExt cx="512028" cy="512028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8628612" y="2579302"/>
            <a:ext cx="324000" cy="280039"/>
            <a:chOff x="0" y="0"/>
            <a:chExt cx="432000" cy="373385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32000" cy="373385"/>
            </a:xfrm>
            <a:custGeom>
              <a:avLst/>
              <a:gdLst/>
              <a:ahLst/>
              <a:cxnLst/>
              <a:rect r="r" b="b" t="t" l="l"/>
              <a:pathLst>
                <a:path h="373385" w="432000">
                  <a:moveTo>
                    <a:pt x="0" y="0"/>
                  </a:moveTo>
                  <a:lnTo>
                    <a:pt x="432000" y="0"/>
                  </a:lnTo>
                  <a:lnTo>
                    <a:pt x="432000" y="373385"/>
                  </a:lnTo>
                  <a:lnTo>
                    <a:pt x="0" y="373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9525"/>
              <a:ext cx="432000" cy="382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w5</a:t>
              </a:r>
            </a:p>
          </p:txBody>
        </p:sp>
      </p:grpSp>
      <p:sp>
        <p:nvSpPr>
          <p:cNvPr name="TextBox 147" id="147"/>
          <p:cNvSpPr txBox="true"/>
          <p:nvPr/>
        </p:nvSpPr>
        <p:spPr>
          <a:xfrm rot="0">
            <a:off x="1112761" y="2605676"/>
            <a:ext cx="35864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w1</a:t>
            </a:r>
          </a:p>
        </p:txBody>
      </p:sp>
      <p:grpSp>
        <p:nvGrpSpPr>
          <p:cNvPr name="Group 148" id="148"/>
          <p:cNvGrpSpPr/>
          <p:nvPr/>
        </p:nvGrpSpPr>
        <p:grpSpPr>
          <a:xfrm rot="-10800000">
            <a:off x="5264335" y="2145116"/>
            <a:ext cx="3688276" cy="226365"/>
            <a:chOff x="0" y="0"/>
            <a:chExt cx="4917702" cy="30182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4917659" cy="301879"/>
            </a:xfrm>
            <a:custGeom>
              <a:avLst/>
              <a:gdLst/>
              <a:ahLst/>
              <a:cxnLst/>
              <a:rect r="r" b="b" t="t" l="l"/>
              <a:pathLst>
                <a:path h="301879" w="4917659">
                  <a:moveTo>
                    <a:pt x="0" y="150876"/>
                  </a:moveTo>
                  <a:cubicBezTo>
                    <a:pt x="0" y="67564"/>
                    <a:pt x="63007" y="0"/>
                    <a:pt x="140701" y="0"/>
                  </a:cubicBezTo>
                  <a:lnTo>
                    <a:pt x="4776958" y="0"/>
                  </a:lnTo>
                  <a:cubicBezTo>
                    <a:pt x="4854652" y="0"/>
                    <a:pt x="4917659" y="67564"/>
                    <a:pt x="4917659" y="150876"/>
                  </a:cubicBezTo>
                  <a:cubicBezTo>
                    <a:pt x="4917659" y="234188"/>
                    <a:pt x="4854652" y="301752"/>
                    <a:pt x="4776958" y="301752"/>
                  </a:cubicBezTo>
                  <a:lnTo>
                    <a:pt x="140701" y="301752"/>
                  </a:lnTo>
                  <a:cubicBezTo>
                    <a:pt x="63007" y="301879"/>
                    <a:pt x="0" y="234315"/>
                    <a:pt x="0" y="150876"/>
                  </a:cubicBezTo>
                  <a:close/>
                </a:path>
              </a:pathLst>
            </a:custGeom>
            <a:solidFill>
              <a:srgbClr val="FFC55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-10800000">
            <a:off x="13620334" y="2163222"/>
            <a:ext cx="3715223" cy="236478"/>
            <a:chOff x="0" y="0"/>
            <a:chExt cx="4953630" cy="315304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4953565" cy="315341"/>
            </a:xfrm>
            <a:custGeom>
              <a:avLst/>
              <a:gdLst/>
              <a:ahLst/>
              <a:cxnLst/>
              <a:rect r="r" b="b" t="t" l="l"/>
              <a:pathLst>
                <a:path h="315341" w="4953565">
                  <a:moveTo>
                    <a:pt x="0" y="157607"/>
                  </a:moveTo>
                  <a:cubicBezTo>
                    <a:pt x="0" y="70612"/>
                    <a:pt x="66184" y="0"/>
                    <a:pt x="147724" y="0"/>
                  </a:cubicBezTo>
                  <a:lnTo>
                    <a:pt x="4805841" y="0"/>
                  </a:lnTo>
                  <a:cubicBezTo>
                    <a:pt x="4887500" y="0"/>
                    <a:pt x="4953565" y="70612"/>
                    <a:pt x="4953565" y="157607"/>
                  </a:cubicBezTo>
                  <a:cubicBezTo>
                    <a:pt x="4953565" y="244602"/>
                    <a:pt x="4887381" y="315214"/>
                    <a:pt x="4805841" y="315214"/>
                  </a:cubicBezTo>
                  <a:lnTo>
                    <a:pt x="147724" y="315214"/>
                  </a:lnTo>
                  <a:cubicBezTo>
                    <a:pt x="66184" y="315341"/>
                    <a:pt x="0" y="244729"/>
                    <a:pt x="0" y="157607"/>
                  </a:cubicBezTo>
                  <a:close/>
                </a:path>
              </a:pathLst>
            </a:custGeom>
            <a:solidFill>
              <a:srgbClr val="FFC550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-10800000">
            <a:off x="16947118" y="2535225"/>
            <a:ext cx="384021" cy="384021"/>
            <a:chOff x="0" y="0"/>
            <a:chExt cx="512028" cy="51202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16985218" y="2571244"/>
            <a:ext cx="324000" cy="280039"/>
            <a:chOff x="0" y="0"/>
            <a:chExt cx="432000" cy="373385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432000" cy="373385"/>
            </a:xfrm>
            <a:custGeom>
              <a:avLst/>
              <a:gdLst/>
              <a:ahLst/>
              <a:cxnLst/>
              <a:rect r="r" b="b" t="t" l="l"/>
              <a:pathLst>
                <a:path h="373385" w="432000">
                  <a:moveTo>
                    <a:pt x="0" y="0"/>
                  </a:moveTo>
                  <a:lnTo>
                    <a:pt x="432000" y="0"/>
                  </a:lnTo>
                  <a:lnTo>
                    <a:pt x="432000" y="373385"/>
                  </a:lnTo>
                  <a:lnTo>
                    <a:pt x="0" y="373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9525"/>
              <a:ext cx="432000" cy="382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w5</a:t>
              </a:r>
            </a:p>
          </p:txBody>
        </p:sp>
      </p:grpSp>
      <p:sp>
        <p:nvSpPr>
          <p:cNvPr name="AutoShape 157" id="157"/>
          <p:cNvSpPr/>
          <p:nvPr/>
        </p:nvSpPr>
        <p:spPr>
          <a:xfrm>
            <a:off x="2109960" y="3031549"/>
            <a:ext cx="0" cy="372735"/>
          </a:xfrm>
          <a:prstGeom prst="line">
            <a:avLst/>
          </a:prstGeom>
          <a:ln cap="rnd" w="9525">
            <a:solidFill>
              <a:srgbClr val="D8D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8" id="158"/>
          <p:cNvSpPr/>
          <p:nvPr/>
        </p:nvSpPr>
        <p:spPr>
          <a:xfrm>
            <a:off x="3785210" y="3031549"/>
            <a:ext cx="0" cy="372735"/>
          </a:xfrm>
          <a:prstGeom prst="line">
            <a:avLst/>
          </a:prstGeom>
          <a:ln cap="rnd" w="9525">
            <a:solidFill>
              <a:srgbClr val="D8D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9" id="159"/>
          <p:cNvSpPr/>
          <p:nvPr/>
        </p:nvSpPr>
        <p:spPr>
          <a:xfrm>
            <a:off x="5461108" y="3031549"/>
            <a:ext cx="0" cy="372735"/>
          </a:xfrm>
          <a:prstGeom prst="line">
            <a:avLst/>
          </a:prstGeom>
          <a:ln cap="rnd" w="9525">
            <a:solidFill>
              <a:srgbClr val="D8D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0" id="160"/>
          <p:cNvSpPr/>
          <p:nvPr/>
        </p:nvSpPr>
        <p:spPr>
          <a:xfrm>
            <a:off x="7131556" y="3031549"/>
            <a:ext cx="0" cy="372735"/>
          </a:xfrm>
          <a:prstGeom prst="line">
            <a:avLst/>
          </a:prstGeom>
          <a:ln cap="rnd" w="9525">
            <a:solidFill>
              <a:srgbClr val="D8D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1" id="161"/>
          <p:cNvSpPr/>
          <p:nvPr/>
        </p:nvSpPr>
        <p:spPr>
          <a:xfrm>
            <a:off x="7942887" y="3031549"/>
            <a:ext cx="0" cy="372735"/>
          </a:xfrm>
          <a:prstGeom prst="line">
            <a:avLst/>
          </a:prstGeom>
          <a:ln cap="rnd" w="9525">
            <a:solidFill>
              <a:srgbClr val="D8D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2" id="162"/>
          <p:cNvSpPr/>
          <p:nvPr/>
        </p:nvSpPr>
        <p:spPr>
          <a:xfrm>
            <a:off x="8785849" y="3031549"/>
            <a:ext cx="0" cy="372735"/>
          </a:xfrm>
          <a:prstGeom prst="line">
            <a:avLst/>
          </a:prstGeom>
          <a:ln cap="rnd" w="9525">
            <a:solidFill>
              <a:srgbClr val="D8D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3" id="163"/>
          <p:cNvSpPr/>
          <p:nvPr/>
        </p:nvSpPr>
        <p:spPr>
          <a:xfrm>
            <a:off x="9616110" y="3031549"/>
            <a:ext cx="0" cy="372735"/>
          </a:xfrm>
          <a:prstGeom prst="line">
            <a:avLst/>
          </a:prstGeom>
          <a:ln cap="rnd" w="9525">
            <a:solidFill>
              <a:srgbClr val="D8D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4" id="164"/>
          <p:cNvSpPr/>
          <p:nvPr/>
        </p:nvSpPr>
        <p:spPr>
          <a:xfrm>
            <a:off x="10469905" y="3031549"/>
            <a:ext cx="0" cy="372735"/>
          </a:xfrm>
          <a:prstGeom prst="line">
            <a:avLst/>
          </a:prstGeom>
          <a:ln cap="rnd" w="9525">
            <a:solidFill>
              <a:srgbClr val="D8D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5" id="165"/>
          <p:cNvSpPr/>
          <p:nvPr/>
        </p:nvSpPr>
        <p:spPr>
          <a:xfrm>
            <a:off x="11293444" y="3031549"/>
            <a:ext cx="0" cy="372735"/>
          </a:xfrm>
          <a:prstGeom prst="line">
            <a:avLst/>
          </a:prstGeom>
          <a:ln cap="rnd" w="9525">
            <a:solidFill>
              <a:srgbClr val="D8D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6" id="166"/>
          <p:cNvSpPr/>
          <p:nvPr/>
        </p:nvSpPr>
        <p:spPr>
          <a:xfrm>
            <a:off x="12125140" y="3031549"/>
            <a:ext cx="0" cy="372735"/>
          </a:xfrm>
          <a:prstGeom prst="line">
            <a:avLst/>
          </a:prstGeom>
          <a:ln cap="rnd" w="9525">
            <a:solidFill>
              <a:srgbClr val="D8D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7" id="167"/>
          <p:cNvSpPr/>
          <p:nvPr/>
        </p:nvSpPr>
        <p:spPr>
          <a:xfrm>
            <a:off x="12956836" y="3031549"/>
            <a:ext cx="0" cy="372735"/>
          </a:xfrm>
          <a:prstGeom prst="line">
            <a:avLst/>
          </a:prstGeom>
          <a:ln cap="rnd" w="9525">
            <a:solidFill>
              <a:srgbClr val="D8D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8" id="168"/>
          <p:cNvSpPr/>
          <p:nvPr/>
        </p:nvSpPr>
        <p:spPr>
          <a:xfrm>
            <a:off x="13820271" y="3031549"/>
            <a:ext cx="0" cy="372735"/>
          </a:xfrm>
          <a:prstGeom prst="line">
            <a:avLst/>
          </a:prstGeom>
          <a:ln cap="rnd" w="9525">
            <a:solidFill>
              <a:srgbClr val="D8D8D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71200" y="3497909"/>
            <a:ext cx="3302000" cy="3550538"/>
          </a:xfrm>
          <a:custGeom>
            <a:avLst/>
            <a:gdLst/>
            <a:ahLst/>
            <a:cxnLst/>
            <a:rect r="r" b="b" t="t" l="l"/>
            <a:pathLst>
              <a:path h="3550538" w="3302000">
                <a:moveTo>
                  <a:pt x="0" y="0"/>
                </a:moveTo>
                <a:lnTo>
                  <a:pt x="3302000" y="0"/>
                </a:lnTo>
                <a:lnTo>
                  <a:pt x="3302000" y="3550538"/>
                </a:lnTo>
                <a:lnTo>
                  <a:pt x="0" y="3550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25545" y="1201152"/>
            <a:ext cx="2246176" cy="808623"/>
          </a:xfrm>
          <a:custGeom>
            <a:avLst/>
            <a:gdLst/>
            <a:ahLst/>
            <a:cxnLst/>
            <a:rect r="r" b="b" t="t" l="l"/>
            <a:pathLst>
              <a:path h="808623" w="2246176">
                <a:moveTo>
                  <a:pt x="0" y="0"/>
                </a:moveTo>
                <a:lnTo>
                  <a:pt x="2246176" y="0"/>
                </a:lnTo>
                <a:lnTo>
                  <a:pt x="2246176" y="808623"/>
                </a:lnTo>
                <a:lnTo>
                  <a:pt x="0" y="8086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4583768" y="-410568"/>
            <a:ext cx="3293665" cy="4114800"/>
          </a:xfrm>
          <a:custGeom>
            <a:avLst/>
            <a:gdLst/>
            <a:ahLst/>
            <a:cxnLst/>
            <a:rect r="r" b="b" t="t" l="l"/>
            <a:pathLst>
              <a:path h="4114800" w="3293665">
                <a:moveTo>
                  <a:pt x="0" y="0"/>
                </a:moveTo>
                <a:lnTo>
                  <a:pt x="3293664" y="0"/>
                </a:lnTo>
                <a:lnTo>
                  <a:pt x="32936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330470" y="7305429"/>
            <a:ext cx="2651102" cy="3312041"/>
          </a:xfrm>
          <a:custGeom>
            <a:avLst/>
            <a:gdLst/>
            <a:ahLst/>
            <a:cxnLst/>
            <a:rect r="r" b="b" t="t" l="l"/>
            <a:pathLst>
              <a:path h="3312041" w="2651102">
                <a:moveTo>
                  <a:pt x="0" y="0"/>
                </a:moveTo>
                <a:lnTo>
                  <a:pt x="2651101" y="0"/>
                </a:lnTo>
                <a:lnTo>
                  <a:pt x="2651101" y="3312041"/>
                </a:lnTo>
                <a:lnTo>
                  <a:pt x="0" y="3312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16100" y="942975"/>
            <a:ext cx="7566674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spc="-13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6.Conclusion</a:t>
            </a:r>
          </a:p>
          <a:p>
            <a:pPr algn="l">
              <a:lnSpc>
                <a:spcPts val="7762"/>
              </a:lnSpc>
            </a:pPr>
          </a:p>
          <a:p>
            <a:pPr algn="l">
              <a:lnSpc>
                <a:spcPts val="776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7378" y="2185987"/>
            <a:ext cx="14193097" cy="4987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6496"/>
              </a:lnSpc>
              <a:buFont typeface="Arial"/>
              <a:buChar char="•"/>
            </a:pPr>
            <a:r>
              <a:rPr lang="en-US" sz="3200" spc="-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aims to solve the problem of trust and tampering in cloud storage.</a:t>
            </a:r>
          </a:p>
          <a:p>
            <a:pPr algn="just">
              <a:lnSpc>
                <a:spcPts val="4060"/>
              </a:lnSpc>
            </a:pPr>
          </a:p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 spc="-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are building a system that uses Bloom filters </a:t>
            </a:r>
            <a:r>
              <a:rPr lang="en-US" sz="3200" spc="-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blockchain to check if cloud data has been changed.</a:t>
            </a:r>
          </a:p>
          <a:p>
            <a:pPr algn="just">
              <a:lnSpc>
                <a:spcPts val="6496"/>
              </a:lnSpc>
            </a:pPr>
          </a:p>
          <a:p>
            <a:pPr algn="just">
              <a:lnSpc>
                <a:spcPts val="6496"/>
              </a:lnSpc>
            </a:pPr>
          </a:p>
          <a:p>
            <a:pPr algn="just">
              <a:lnSpc>
                <a:spcPts val="649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583768" y="-410568"/>
            <a:ext cx="3293665" cy="4114800"/>
          </a:xfrm>
          <a:custGeom>
            <a:avLst/>
            <a:gdLst/>
            <a:ahLst/>
            <a:cxnLst/>
            <a:rect r="r" b="b" t="t" l="l"/>
            <a:pathLst>
              <a:path h="4114800" w="3293665">
                <a:moveTo>
                  <a:pt x="0" y="0"/>
                </a:moveTo>
                <a:lnTo>
                  <a:pt x="3293664" y="0"/>
                </a:lnTo>
                <a:lnTo>
                  <a:pt x="32936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30470" y="7305429"/>
            <a:ext cx="2651102" cy="3312041"/>
          </a:xfrm>
          <a:custGeom>
            <a:avLst/>
            <a:gdLst/>
            <a:ahLst/>
            <a:cxnLst/>
            <a:rect r="r" b="b" t="t" l="l"/>
            <a:pathLst>
              <a:path h="3312041" w="2651102">
                <a:moveTo>
                  <a:pt x="0" y="0"/>
                </a:moveTo>
                <a:lnTo>
                  <a:pt x="2651101" y="0"/>
                </a:lnTo>
                <a:lnTo>
                  <a:pt x="2651101" y="3312041"/>
                </a:lnTo>
                <a:lnTo>
                  <a:pt x="0" y="3312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255249"/>
            <a:ext cx="18288000" cy="2419064"/>
          </a:xfrm>
          <a:custGeom>
            <a:avLst/>
            <a:gdLst/>
            <a:ahLst/>
            <a:cxnLst/>
            <a:rect r="r" b="b" t="t" l="l"/>
            <a:pathLst>
              <a:path h="2419064" w="18288000">
                <a:moveTo>
                  <a:pt x="0" y="0"/>
                </a:moveTo>
                <a:lnTo>
                  <a:pt x="18288000" y="0"/>
                </a:lnTo>
                <a:lnTo>
                  <a:pt x="18288000" y="2419065"/>
                </a:lnTo>
                <a:lnTo>
                  <a:pt x="0" y="24190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2" t="-64068" r="-492" b="-6830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6818" y="4237652"/>
            <a:ext cx="12271868" cy="220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85"/>
              </a:lnSpc>
            </a:pPr>
            <a:r>
              <a:rPr lang="en-US" sz="12918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DAGtE0D0P50</dc:identifier>
  <dcterms:modified xsi:type="dcterms:W3CDTF">2011-08-01T06:04:30Z</dcterms:modified>
  <cp:revision>1</cp:revision>
  <dc:title>Vericloud Blockchain-Aided Bloom Filter Verification System for Secure Cloud Storage</dc:title>
</cp:coreProperties>
</file>